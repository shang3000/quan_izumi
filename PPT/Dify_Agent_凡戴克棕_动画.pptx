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7280" y="914400"/>
            <a:ext cx="365760" cy="365760"/>
          </a:xfrm>
          <a:prstGeom prst="ellipse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4572000"/>
            <a:ext cx="1097280" cy="1097280"/>
          </a:xfrm>
          <a:prstGeom prst="ellipse">
            <a:avLst/>
          </a:prstGeom>
          <a:solidFill>
            <a:srgbClr val="3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4114800"/>
            <a:ext cx="457200" cy="457200"/>
          </a:xfrm>
          <a:prstGeom prst="ellipse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B2C23"/>
                </a:solidFill>
                <a:latin typeface="Microsoft YaHei"/>
              </a:defRPr>
            </a:pPr>
            <a:r>
              <a:t>Dify Agent 开发流程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B2D42"/>
                </a:solidFill>
                <a:latin typeface="Microsoft YaHei"/>
              </a:defRPr>
            </a:pPr>
            <a:r>
              <a:t>从零到一构建你的 AI Agent 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108960"/>
            <a:ext cx="39319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泉  |  2026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/>
      <p:bldP spid="8" grpId="0"/>
      <p:bldP spid="9" grpId="0" animBg="1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B2C23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81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097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97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平台认知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91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了解 Dify 与 Agent 核心概念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10515600" cy="6350"/>
          </a:xfrm>
          <a:prstGeom prst="rect">
            <a:avLst/>
          </a:prstGeom>
          <a:solidFill>
            <a:srgbClr val="C8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698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57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开发流程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五阶段完整开发路径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10515600" cy="6350"/>
          </a:xfrm>
          <a:prstGeom prst="rect">
            <a:avLst/>
          </a:prstGeom>
          <a:solidFill>
            <a:srgbClr val="C8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3299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317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Agent 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11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四种推理模式对比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10515600" cy="6350"/>
          </a:xfrm>
          <a:prstGeom prst="rect">
            <a:avLst/>
          </a:prstGeom>
          <a:solidFill>
            <a:srgbClr val="C8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2900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7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核心配置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模型、工具、知识库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029200"/>
            <a:ext cx="10515600" cy="6350"/>
          </a:xfrm>
          <a:prstGeom prst="rect">
            <a:avLst/>
          </a:prstGeom>
          <a:solidFill>
            <a:srgbClr val="C8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1520" y="5212080"/>
            <a:ext cx="502920" cy="50292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2501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3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2D42"/>
                </a:solidFill>
                <a:latin typeface="Microsoft YaHei"/>
              </a:defRPr>
            </a:pPr>
            <a:r>
              <a:t>调试发布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32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测试优化与上线集成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  <p:bldP spid="26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Dify 平台将 Agent 开发从代码编排转向可视化构建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56032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124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097280"/>
            <a:ext cx="365760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1124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传统开发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097280"/>
            <a:ext cx="393192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52360" y="11247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Dify 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717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开发方式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169164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7170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手写 LangChain 代码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691640"/>
            <a:ext cx="3931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1717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可视化拖拽编排工作流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31720"/>
            <a:ext cx="25603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357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模型接入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331720"/>
            <a:ext cx="365760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2357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手动配置 API 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331720"/>
            <a:ext cx="39319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52360" y="2357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一键接入主流模型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2997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工具集成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97180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29972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自己编写 Tool 函数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971800"/>
            <a:ext cx="3931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52360" y="2997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内置 + 自定义插件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611880"/>
            <a:ext cx="25603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63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调试测试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611880"/>
            <a:ext cx="365760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11880" y="3637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print 日志 + 猜测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611880"/>
            <a:ext cx="39319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2360" y="3637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可视化推理链路追踪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251960"/>
            <a:ext cx="25603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27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425196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11880" y="42773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自己搭向量数据库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251960"/>
            <a:ext cx="3931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52360" y="427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上传文档自动生成 RAG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892040"/>
            <a:ext cx="25603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" y="491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2C23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0" y="4892040"/>
            <a:ext cx="365760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11880" y="4917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Flask / FastAPI 服务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4892040"/>
            <a:ext cx="3931920" cy="594360"/>
          </a:xfrm>
          <a:prstGeom prst="rect">
            <a:avLst/>
          </a:prstGeom>
          <a:solidFill>
            <a:srgbClr val="E8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52360" y="4917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2C23"/>
                </a:solidFill>
                <a:latin typeface="Microsoft YaHei"/>
              </a:defRPr>
            </a:pPr>
            <a:r>
              <a:t>API / Widget 一键发布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1520" y="5577840"/>
            <a:ext cx="50800" cy="914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5840" y="5623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2D42"/>
                </a:solidFill>
                <a:latin typeface="Microsoft YaHei"/>
              </a:defRPr>
            </a:pPr>
            <a:r>
              <a:t>▸ Dify 让非专业开发者也能在数小时内构建生产级 Agent</a:t>
            </a:r>
            <a:br/>
            <a:r>
              <a:t>▸ 开源社区活跃，支持私有化部署，开发效率提升 5-10 倍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 animBg="1"/>
      <p:bldP spid="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从零到发布的完整开发流程包含五个关键阶段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环境准备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注册账号</a:t>
            </a:r>
            <a:br/>
            <a:r>
              <a:t>Docker 部署</a:t>
            </a:r>
            <a:br/>
            <a:r>
              <a:t>模型接入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32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032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032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46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创建应用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89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403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选择 Agent 类型</a:t>
            </a:r>
            <a:br/>
            <a:r>
              <a:t>配置基础参数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749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核心配置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编写 Prompt</a:t>
            </a:r>
            <a:br/>
            <a:r>
              <a:t>接入工具+知识库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66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466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466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80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调试优化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23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37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Playground 测试</a:t>
            </a:r>
            <a:br/>
            <a:r>
              <a:t>调整策略参数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1188720"/>
            <a:ext cx="20116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18320" y="1188720"/>
            <a:ext cx="2011680" cy="7315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0" y="1234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发布上线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2743200"/>
            <a:ext cx="128016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55480" y="301752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API 集成</a:t>
            </a:r>
            <a:br/>
            <a:r>
              <a:t>嵌入网页</a:t>
            </a:r>
            <a:br/>
            <a:r>
              <a:t>独立 WebApp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/>
      <p:bldP spid="22" grpId="0" animBg="1"/>
      <p:bldP spid="23" grpId="0" animBg="1"/>
      <p:bldP spid="24" grpId="0"/>
      <p:bldP spid="25" grpId="0"/>
      <p:bldP spid="26" grpId="0" animBg="1"/>
      <p:bldP spid="27" grpId="0"/>
      <p:bldP spid="28" grpId="0" animBg="1"/>
      <p:bldP spid="29" grpId="0" animBg="1"/>
      <p:bldP spid="30" grpId="0"/>
      <p:bldP spid="31" grpId="0"/>
      <p:bldP spid="32" grpId="0" animBg="1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四种 Agent 策略模式覆盖不同复杂度场景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560320" cy="91440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Function Calling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28600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B2C23"/>
                </a:solidFill>
                <a:latin typeface="Microsoft YaHei"/>
              </a:defRPr>
            </a:pPr>
            <a:r>
              <a:t>模型原生支持，推荐首选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稳定性最高，响应最快</a:t>
            </a:r>
            <a:br/>
            <a:r>
              <a:t>适合绝大多数场景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424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44240" y="1188720"/>
            <a:ext cx="2560320" cy="91440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5680" y="1280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ReAct 推理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18560" y="228600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8140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B2C23"/>
                </a:solidFill>
                <a:latin typeface="Microsoft YaHei"/>
              </a:defRPr>
            </a:pPr>
            <a:r>
              <a:t>Thought → Action → Observation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32004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灵活强大，适合多步推理</a:t>
            </a:r>
            <a:br/>
            <a:r>
              <a:t>复杂任务的首选方案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696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56960" y="1188720"/>
            <a:ext cx="2560320" cy="91440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8400" y="1280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Plan &amp; Execute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1280" y="228600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41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B2C23"/>
                </a:solidFill>
                <a:latin typeface="Microsoft YaHei"/>
              </a:defRPr>
            </a:pPr>
            <a:r>
              <a:t>先规划再执行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4120" y="32004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适合多个工具调用</a:t>
            </a:r>
            <a:br/>
            <a:r>
              <a:t>的长流程复杂任务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69680" y="1188720"/>
            <a:ext cx="2560320" cy="91440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0" y="1280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Quantum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28600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4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B2C23"/>
                </a:solidFill>
                <a:latin typeface="Microsoft YaHei"/>
              </a:defRPr>
            </a:pPr>
            <a:r>
              <a:t>实验性策略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2004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支持更自由的推理路径</a:t>
            </a:r>
            <a:br/>
            <a:r>
              <a:t>适合探索和研究场景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 animBg="1"/>
      <p:bldP spid="20" grpId="0"/>
      <p:bldP spid="21" grpId="0"/>
      <p:bldP spid="22" grpId="0" animBg="1"/>
      <p:bldP spid="23" grpId="0" animBg="1"/>
      <p:bldP spid="24" grpId="0"/>
      <p:bldP spid="25" grpId="0" animBg="1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核心配置项决定 Agent 的能力和行为边界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9164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2C23"/>
                </a:solidFill>
                <a:latin typeface="Microsoft YaHei"/>
              </a:defRPr>
            </a:pPr>
            <a:r>
              <a:t>Prompt 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92608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系统提示词定义 Agent 的</a:t>
            </a:r>
            <a:br/>
            <a:r>
              <a:t>角色定位、行为规则和输出格式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424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0436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436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2C23"/>
                </a:solidFill>
                <a:latin typeface="Microsoft YaHei"/>
              </a:defRPr>
            </a:pPr>
            <a:r>
              <a:t>模型选择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8560" y="292608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8140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GPT-4o 适合复杂推理</a:t>
            </a:r>
            <a:br/>
            <a:r>
              <a:t>Claude 适合长文本</a:t>
            </a:r>
            <a:br/>
            <a:r>
              <a:t>Qwen 适合中文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696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1708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1708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412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2C23"/>
                </a:solidFill>
                <a:latin typeface="Microsoft YaHei"/>
              </a:defRPr>
            </a:pPr>
            <a:r>
              <a:t>工具接入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1280" y="292608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412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内置搜索+计算+DALL-E</a:t>
            </a:r>
            <a:br/>
            <a:r>
              <a:t>支持自定义 HTTP API</a:t>
            </a:r>
            <a:br/>
            <a:r>
              <a:t>Python 代码执行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188720"/>
            <a:ext cx="2560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82980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B2C23"/>
                </a:solidFill>
                <a:latin typeface="Microsoft YaHei"/>
              </a:defRPr>
            </a:pPr>
            <a:r>
              <a:t>知识库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926080"/>
            <a:ext cx="201168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320040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Microsoft YaHei"/>
              </a:defRPr>
            </a:pPr>
            <a:r>
              <a:t>上传 PDF/Word/网页</a:t>
            </a:r>
            <a:br/>
            <a:r>
              <a:t>自动切片向量化</a:t>
            </a:r>
            <a:br/>
            <a:r>
              <a:t>构建 RAG 增强问答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/>
      <p:bldP spid="22" grpId="0" animBg="1"/>
      <p:bldP spid="23" grpId="0" animBg="1"/>
      <p:bldP spid="24" grpId="0"/>
      <p:bldP spid="25" grpId="0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工具集成矩阵按内外部和复杂度划分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14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内置工具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网页搜索、计算器、</a:t>
            </a:r>
            <a:br/>
            <a:r>
              <a:t>DALL-E 绘图，开箱即用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21208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214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自定义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HTTP 节点对接任意外部</a:t>
            </a:r>
            <a:br/>
            <a:r>
              <a:t>服务，RESTful / GraphQL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21208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83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代码执行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Python / JS 沙盒环境</a:t>
            </a:r>
            <a:br/>
            <a:r>
              <a:t>运行复杂数据处理逻辑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52120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5212080" cy="50292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683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知识库检索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文档上传+向量检索</a:t>
            </a:r>
            <a:br/>
            <a:r>
              <a:t>构建 RAG 增强专业问答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/>
      <p:bldP spid="8" grpId="0" animBg="1"/>
      <p:bldP spid="9" grpId="0" animBg="1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调试优化将 Agent 从基础问答提升为可靠助手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548640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161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优化前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Prompt 模糊，输出格式不一致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工具调用频繁失败，无重试机制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推理链路过长，响应超过 10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遇到异常直接报错，体验差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B2D42"/>
                </a:solidFill>
                <a:latin typeface="Microsoft YaHei"/>
              </a:defRPr>
            </a:pPr>
            <a:r>
              <a:t>✗  知识库召回率低，答非所问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88720"/>
            <a:ext cx="5212080" cy="5212080"/>
          </a:xfrm>
          <a:prstGeom prst="round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5212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2161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B2C23"/>
                </a:solidFill>
                <a:latin typeface="Microsoft YaHei"/>
              </a:defRPr>
            </a:pPr>
            <a:r>
              <a:t>优化后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结构化 Prompt + Few-shot 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88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错误处理 + 自动重试，成功率 99%+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66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策略精简，平均 2-3 步完成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优雅降级 + 友好提示，容错性强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 混合检索+重排序，相关性 +40%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2D42"/>
                </a:solidFill>
                <a:latin typeface="Microsoft YaHei"/>
              </a:defRPr>
            </a:pPr>
            <a:r>
              <a:t>成功构建 Dify Agent 的三个关键原则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291840" cy="109728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5740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740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B2C23"/>
                </a:solidFill>
                <a:latin typeface="Microsoft YaHei"/>
              </a:defRPr>
            </a:pPr>
            <a:r>
              <a:t>Prompt 是灵魂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017520"/>
            <a:ext cx="25603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7B"/>
                </a:solidFill>
                <a:latin typeface="Microsoft YaHei"/>
              </a:defRPr>
            </a:pPr>
            <a:r>
              <a:t>结构化提示词 + 角色定义</a:t>
            </a:r>
            <a:br/>
            <a:r>
              <a:t>+ 输出约束</a:t>
            </a:r>
            <a:br/>
            <a:r>
              <a:t>决定了 Agent 80% 的表现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188720"/>
            <a:ext cx="3291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188720"/>
            <a:ext cx="3291840" cy="109728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76072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B2C23"/>
                </a:solidFill>
                <a:latin typeface="Microsoft YaHei"/>
              </a:defRPr>
            </a:pPr>
            <a:r>
              <a:t>工具是手脚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017520"/>
            <a:ext cx="25603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7B"/>
                </a:solidFill>
                <a:latin typeface="Microsoft YaHei"/>
              </a:defRPr>
            </a:pPr>
            <a:r>
              <a:t>合理选择内置工具</a:t>
            </a:r>
            <a:br/>
            <a:r>
              <a:t>和自定义 API</a:t>
            </a:r>
            <a:br/>
            <a:r>
              <a:t>让 Agent 执行真实任务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88720"/>
            <a:ext cx="3291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291840" cy="109728"/>
          </a:xfrm>
          <a:prstGeom prst="rect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64040" y="1554480"/>
            <a:ext cx="640080" cy="640080"/>
          </a:xfrm>
          <a:prstGeom prst="ellipse">
            <a:avLst/>
          </a:prstGeom>
          <a:solidFill>
            <a:srgbClr val="4B2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64040" y="1600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B2C23"/>
                </a:solidFill>
                <a:latin typeface="Microsoft YaHei"/>
              </a:defRPr>
            </a:pPr>
            <a:r>
              <a:t>迭代是常态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017520"/>
            <a:ext cx="25603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7B"/>
                </a:solidFill>
                <a:latin typeface="Microsoft YaHei"/>
              </a:defRPr>
            </a:pPr>
            <a:r>
              <a:t>没有一次做完美的 Agent</a:t>
            </a:r>
            <a:br/>
            <a:r>
              <a:t>通过 Playground 反复测试</a:t>
            </a:r>
            <a:br/>
            <a:r>
              <a:t>持续优化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 animBg="1"/>
      <p:bldP spid="6" grpId="0" animBg="1"/>
      <p:bldP spid="7" grpId="0"/>
      <p:bldP spid="8" grpId="0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0" animBg="1"/>
      <p:bldP spid="20" grpId="0" animBg="1"/>
      <p:bldP spid="21" grpId="0"/>
      <p:bldP spid="22" grpId="0"/>
      <p:bldP spid="23" grpId="0" animBg="1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2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457200"/>
            <a:ext cx="914400" cy="914400"/>
          </a:xfrm>
          <a:prstGeom prst="ellipse">
            <a:avLst/>
          </a:prstGeom>
          <a:solidFill>
            <a:srgbClr val="3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1097280" cy="1097280"/>
          </a:xfrm>
          <a:prstGeom prst="ellipse">
            <a:avLst/>
          </a:prstGeom>
          <a:solidFill>
            <a:srgbClr val="3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365760"/>
            <a:ext cx="457200" cy="457200"/>
          </a:xfrm>
          <a:prstGeom prst="ellipse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0" y="2926080"/>
            <a:ext cx="3931920" cy="25400"/>
          </a:xfrm>
          <a:prstGeom prst="rect">
            <a:avLst/>
          </a:prstGeom>
          <a:solidFill>
            <a:srgbClr val="A07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6C3B2"/>
                </a:solidFill>
                <a:latin typeface="Microsoft YaHei"/>
              </a:defRPr>
            </a:pPr>
            <a:r>
              <a:t>用 Dify，让每个人都能构建自己的 AI Agent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365</Words>
  <Application>Microsoft Office PowerPoint</Application>
  <PresentationFormat>宽屏</PresentationFormat>
  <Paragraphs>118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Dean Winchester</cp:lastModifiedBy>
  <cp:revision>2</cp:revision>
  <dcterms:created xsi:type="dcterms:W3CDTF">2013-01-27T09:14:16Z</dcterms:created>
  <dcterms:modified xsi:type="dcterms:W3CDTF">2026-06-13T12:55:25Z</dcterms:modified>
  <cp:category/>
</cp:coreProperties>
</file>