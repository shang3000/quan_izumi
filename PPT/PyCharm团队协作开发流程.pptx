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C039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0"/>
            <a:ext cx="2560320" cy="1828800"/>
          </a:xfrm>
          <a:prstGeom prst="rect">
            <a:avLst/>
          </a:prstGeom>
          <a:solidFill>
            <a:srgbClr val="D44636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474720"/>
            <a:ext cx="2286000" cy="1668780"/>
          </a:xfrm>
          <a:prstGeom prst="rect">
            <a:avLst/>
          </a:prstGeom>
          <a:solidFill>
            <a:srgbClr val="D44636">
              <a:alpha val="2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463040"/>
            <a:ext cx="731520" cy="54864"/>
          </a:xfrm>
          <a:prstGeom prst="rect">
            <a:avLst/>
          </a:prstGeom>
          <a:solidFill>
            <a:srgbClr val="D44636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64592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PyCharm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731520" y="246888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团队协作开发项目流程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731520" y="338328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C7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从项目初始化到持续交付的完整协作指南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8B2E1E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452628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ED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高效协作  |  规范开发  |  持续交付  |  质量保障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EEA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463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039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目  录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7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8229600" cy="18288"/>
          </a:xfrm>
          <a:prstGeom prst="rect">
            <a:avLst/>
          </a:prstGeom>
          <a:solidFill>
            <a:srgbClr val="F5EDDA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554480"/>
            <a:ext cx="411480" cy="411480"/>
          </a:xfrm>
          <a:prstGeom prst="ellipse">
            <a:avLst/>
          </a:prstGeom>
          <a:solidFill>
            <a:srgbClr val="D4463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5544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05840" y="15087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团队协作概述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05840" y="181051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C7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为什么需要规范化协作流程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2304288"/>
            <a:ext cx="411480" cy="411480"/>
          </a:xfrm>
          <a:prstGeom prst="ellipse">
            <a:avLst/>
          </a:prstGeom>
          <a:solidFill>
            <a:srgbClr val="D44636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30428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05840" y="225856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项目初始化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05840" y="25603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C7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PyCharm 创建项目与环境配置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" y="3054096"/>
            <a:ext cx="411480" cy="411480"/>
          </a:xfrm>
          <a:prstGeom prst="ellipse">
            <a:avLst/>
          </a:prstGeom>
          <a:solidFill>
            <a:srgbClr val="D44636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305409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05840" y="3008376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Git 版本控制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05840" y="33101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C7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PyCharm 内置 Git 操作详解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57200" y="3803904"/>
            <a:ext cx="411480" cy="411480"/>
          </a:xfrm>
          <a:prstGeom prst="ellipse">
            <a:avLst/>
          </a:prstGeom>
          <a:solidFill>
            <a:srgbClr val="D44636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380390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05840" y="3758184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分支策略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005840" y="40599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C7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Flow 工作流与分支管理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57200" y="4553712"/>
            <a:ext cx="411480" cy="411480"/>
          </a:xfrm>
          <a:prstGeom prst="ellipse">
            <a:avLst/>
          </a:prstGeom>
          <a:solidFill>
            <a:srgbClr val="D44636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45537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005840" y="450799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开发流程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005840" y="480974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C7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编码 - 提交 - 审查 - 合并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754880" y="1554480"/>
            <a:ext cx="411480" cy="411480"/>
          </a:xfrm>
          <a:prstGeom prst="ellipse">
            <a:avLst/>
          </a:prstGeom>
          <a:solidFill>
            <a:srgbClr val="D44636"/>
          </a:solidFill>
          <a:ln/>
        </p:spPr>
      </p:sp>
      <p:sp>
        <p:nvSpPr>
          <p:cNvPr id="27" name="Text 25"/>
          <p:cNvSpPr/>
          <p:nvPr/>
        </p:nvSpPr>
        <p:spPr>
          <a:xfrm>
            <a:off x="4754880" y="15544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303520" y="15087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代码审查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303520" y="181051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C7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Review 工具与最佳实践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754880" y="2304288"/>
            <a:ext cx="411480" cy="411480"/>
          </a:xfrm>
          <a:prstGeom prst="ellipse">
            <a:avLst/>
          </a:prstGeom>
          <a:solidFill>
            <a:srgbClr val="D44636"/>
          </a:solidFill>
          <a:ln/>
        </p:spPr>
      </p:sp>
      <p:sp>
        <p:nvSpPr>
          <p:cNvPr id="31" name="Text 29"/>
          <p:cNvSpPr/>
          <p:nvPr/>
        </p:nvSpPr>
        <p:spPr>
          <a:xfrm>
            <a:off x="4754880" y="230428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07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303520" y="225856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调试与测试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303520" y="25603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C7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调试器、pytest 与 CI 集成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754880" y="3054096"/>
            <a:ext cx="411480" cy="411480"/>
          </a:xfrm>
          <a:prstGeom prst="ellipse">
            <a:avLst/>
          </a:prstGeom>
          <a:solidFill>
            <a:srgbClr val="D44636"/>
          </a:solidFill>
          <a:ln/>
        </p:spPr>
      </p:sp>
      <p:sp>
        <p:nvSpPr>
          <p:cNvPr id="35" name="Text 33"/>
          <p:cNvSpPr/>
          <p:nvPr/>
        </p:nvSpPr>
        <p:spPr>
          <a:xfrm>
            <a:off x="4754880" y="305409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08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303520" y="3008376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远程协作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5303520" y="33101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C7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With Me 与远程开发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4754880" y="3803904"/>
            <a:ext cx="411480" cy="411480"/>
          </a:xfrm>
          <a:prstGeom prst="ellipse">
            <a:avLst/>
          </a:prstGeom>
          <a:solidFill>
            <a:srgbClr val="D44636"/>
          </a:solidFill>
          <a:ln/>
        </p:spPr>
      </p:sp>
      <p:sp>
        <p:nvSpPr>
          <p:cNvPr id="39" name="Text 37"/>
          <p:cNvSpPr/>
          <p:nvPr/>
        </p:nvSpPr>
        <p:spPr>
          <a:xfrm>
            <a:off x="4754880" y="380390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09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5303520" y="3758184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最佳实践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5303520" y="40599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C7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团队规范与约定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4754880" y="4553712"/>
            <a:ext cx="411480" cy="411480"/>
          </a:xfrm>
          <a:prstGeom prst="ellipse">
            <a:avLst/>
          </a:prstGeom>
          <a:solidFill>
            <a:srgbClr val="D44636"/>
          </a:solidFill>
          <a:ln/>
        </p:spPr>
      </p:sp>
      <p:sp>
        <p:nvSpPr>
          <p:cNvPr id="43" name="Text 41"/>
          <p:cNvSpPr/>
          <p:nvPr/>
        </p:nvSpPr>
        <p:spPr>
          <a:xfrm>
            <a:off x="4754880" y="45537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5303520" y="450799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总结与 Q&amp;A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5303520" y="480974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C7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关键要点回顾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EEA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463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446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51560" y="2743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039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团队协作概述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868680"/>
            <a:ext cx="8229600" cy="18288"/>
          </a:xfrm>
          <a:prstGeom prst="rect">
            <a:avLst/>
          </a:prstGeom>
          <a:solidFill>
            <a:srgbClr val="F5EDDA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097280"/>
            <a:ext cx="393192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097280"/>
            <a:ext cx="3931920" cy="4572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09728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痛点与挑战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31520" y="169164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3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代码冲突频发，合并困难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31520" y="219456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3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缺乏统一编码规范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31520" y="269748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3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分支管理混乱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31520" y="320040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3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Code Review 流于形式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31520" y="370332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3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调试环境不一致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754880" y="1097280"/>
            <a:ext cx="393192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54880" y="1097280"/>
            <a:ext cx="3931920" cy="457200"/>
          </a:xfrm>
          <a:prstGeom prst="rect">
            <a:avLst/>
          </a:prstGeom>
          <a:solidFill>
            <a:srgbClr val="6B8E4E"/>
          </a:solidFill>
          <a:ln/>
        </p:spPr>
      </p:sp>
      <p:sp>
        <p:nvSpPr>
          <p:cNvPr id="16" name="Text 14"/>
          <p:cNvSpPr/>
          <p:nvPr/>
        </p:nvSpPr>
        <p:spPr>
          <a:xfrm>
            <a:off x="4937760" y="109728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PyCharm 解决方案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029200" y="169164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3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内置 Git 可视化操作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029200" y="219456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3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代码风格统一配置 + 一键格式化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029200" y="269748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3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图形化分支管理与合并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029200" y="320040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3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内置 Code Review 工具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029200" y="370332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3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远程解释器 + Docker 集成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EEA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463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446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51560" y="2743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039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项目初始化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868680"/>
            <a:ext cx="8229600" cy="18288"/>
          </a:xfrm>
          <a:prstGeom prst="rect">
            <a:avLst/>
          </a:prstGeom>
          <a:solidFill>
            <a:srgbClr val="F5EDDA"/>
          </a:solidFill>
          <a:ln/>
        </p:spPr>
      </p:sp>
      <p:sp>
        <p:nvSpPr>
          <p:cNvPr id="6" name="Shape 4"/>
          <p:cNvSpPr/>
          <p:nvPr/>
        </p:nvSpPr>
        <p:spPr>
          <a:xfrm>
            <a:off x="480060" y="1188720"/>
            <a:ext cx="187452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80060" y="1188720"/>
            <a:ext cx="1874520" cy="45720"/>
          </a:xfrm>
          <a:prstGeom prst="rect">
            <a:avLst/>
          </a:prstGeom>
          <a:solidFill>
            <a:srgbClr val="D44636"/>
          </a:solidFill>
          <a:ln/>
        </p:spPr>
      </p:sp>
      <p:sp>
        <p:nvSpPr>
          <p:cNvPr id="8" name="Shape 6"/>
          <p:cNvSpPr/>
          <p:nvPr/>
        </p:nvSpPr>
        <p:spPr>
          <a:xfrm>
            <a:off x="1143000" y="1463040"/>
            <a:ext cx="548640" cy="548640"/>
          </a:xfrm>
          <a:prstGeom prst="ellipse">
            <a:avLst/>
          </a:prstGeom>
          <a:solidFill>
            <a:srgbClr val="D44636"/>
          </a:solidFill>
          <a:ln/>
        </p:spPr>
      </p:sp>
      <p:sp>
        <p:nvSpPr>
          <p:cNvPr id="9" name="Text 7"/>
          <p:cNvSpPr/>
          <p:nvPr/>
        </p:nvSpPr>
        <p:spPr>
          <a:xfrm>
            <a:off x="1143000" y="1463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71500" y="214884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039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创建项目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17220" y="2560320"/>
            <a:ext cx="1600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C7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&gt; New Project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C7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选择解释器类型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C7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Virtualenv / Conda / Docker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583180" y="1188720"/>
            <a:ext cx="187452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583180" y="1188720"/>
            <a:ext cx="1874520" cy="45720"/>
          </a:xfrm>
          <a:prstGeom prst="rect">
            <a:avLst/>
          </a:prstGeom>
          <a:solidFill>
            <a:srgbClr val="D44636"/>
          </a:solidFill>
          <a:ln/>
        </p:spPr>
      </p:sp>
      <p:sp>
        <p:nvSpPr>
          <p:cNvPr id="14" name="Shape 12"/>
          <p:cNvSpPr/>
          <p:nvPr/>
        </p:nvSpPr>
        <p:spPr>
          <a:xfrm>
            <a:off x="3246120" y="1463040"/>
            <a:ext cx="548640" cy="548640"/>
          </a:xfrm>
          <a:prstGeom prst="ellipse">
            <a:avLst/>
          </a:prstGeom>
          <a:solidFill>
            <a:srgbClr val="D44636"/>
          </a:solidFill>
          <a:ln/>
        </p:spPr>
      </p:sp>
      <p:sp>
        <p:nvSpPr>
          <p:cNvPr id="15" name="Text 13"/>
          <p:cNvSpPr/>
          <p:nvPr/>
        </p:nvSpPr>
        <p:spPr>
          <a:xfrm>
            <a:off x="3246120" y="1463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2674620" y="214884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039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配置解释器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2720340" y="2560320"/>
            <a:ext cx="1600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C7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 &gt; Project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C7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安装项目依赖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C7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requirements.txt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686300" y="1188720"/>
            <a:ext cx="187452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86300" y="1188720"/>
            <a:ext cx="1874520" cy="45720"/>
          </a:xfrm>
          <a:prstGeom prst="rect">
            <a:avLst/>
          </a:prstGeom>
          <a:solidFill>
            <a:srgbClr val="6B8E4E"/>
          </a:solidFill>
          <a:ln/>
        </p:spPr>
      </p:sp>
      <p:sp>
        <p:nvSpPr>
          <p:cNvPr id="20" name="Shape 18"/>
          <p:cNvSpPr/>
          <p:nvPr/>
        </p:nvSpPr>
        <p:spPr>
          <a:xfrm>
            <a:off x="5349240" y="1463040"/>
            <a:ext cx="548640" cy="548640"/>
          </a:xfrm>
          <a:prstGeom prst="ellipse">
            <a:avLst/>
          </a:prstGeom>
          <a:solidFill>
            <a:srgbClr val="6B8E4E"/>
          </a:solidFill>
          <a:ln/>
        </p:spPr>
      </p:sp>
      <p:sp>
        <p:nvSpPr>
          <p:cNvPr id="21" name="Text 19"/>
          <p:cNvSpPr/>
          <p:nvPr/>
        </p:nvSpPr>
        <p:spPr>
          <a:xfrm>
            <a:off x="5349240" y="1463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4777740" y="214884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039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启用 Git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823460" y="2560320"/>
            <a:ext cx="1600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C7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VCS &gt; Enable VCS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C7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初始化仓库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C7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.gitignore 配置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789420" y="1188720"/>
            <a:ext cx="187452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789420" y="1188720"/>
            <a:ext cx="1874520" cy="4572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26" name="Shape 24"/>
          <p:cNvSpPr/>
          <p:nvPr/>
        </p:nvSpPr>
        <p:spPr>
          <a:xfrm>
            <a:off x="7452360" y="1463040"/>
            <a:ext cx="548640" cy="548640"/>
          </a:xfrm>
          <a:prstGeom prst="ellipse">
            <a:avLst/>
          </a:prstGeom>
          <a:solidFill>
            <a:srgbClr val="E8A838"/>
          </a:solidFill>
          <a:ln/>
        </p:spPr>
      </p:sp>
      <p:sp>
        <p:nvSpPr>
          <p:cNvPr id="27" name="Text 25"/>
          <p:cNvSpPr/>
          <p:nvPr/>
        </p:nvSpPr>
        <p:spPr>
          <a:xfrm>
            <a:off x="7452360" y="1463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6880860" y="214884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039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连接远程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6926580" y="2560320"/>
            <a:ext cx="1600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C7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&gt; Remotes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C7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SSH Key 认证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C7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首次 Push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2423160" y="219456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C7E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4526280" y="219456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C7E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6629400" y="219456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C7E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33" name="Shape 31"/>
          <p:cNvSpPr/>
          <p:nvPr/>
        </p:nvSpPr>
        <p:spPr>
          <a:xfrm>
            <a:off x="457200" y="4023360"/>
            <a:ext cx="8229600" cy="502920"/>
          </a:xfrm>
          <a:prstGeom prst="rect">
            <a:avLst/>
          </a:prstGeom>
          <a:solidFill>
            <a:srgbClr val="FFF8E7"/>
          </a:solidFill>
          <a:ln/>
        </p:spPr>
      </p:sp>
      <p:sp>
        <p:nvSpPr>
          <p:cNvPr id="34" name="Text 32"/>
          <p:cNvSpPr/>
          <p:nvPr/>
        </p:nvSpPr>
        <p:spPr>
          <a:xfrm>
            <a:off x="640080" y="402336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3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 Tip: 使用 SSH Key 认证避免每次输入密码；推荐使用 Virtualenv 隔离项目依赖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EEA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463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446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51560" y="2743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039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Git 版本控制集成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868680"/>
            <a:ext cx="8229600" cy="18288"/>
          </a:xfrm>
          <a:prstGeom prst="rect">
            <a:avLst/>
          </a:prstGeom>
          <a:solidFill>
            <a:srgbClr val="F5EDDA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097280"/>
            <a:ext cx="502920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123444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PyCharm Git 功能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31520" y="1856232"/>
            <a:ext cx="201168" cy="201168"/>
          </a:xfrm>
          <a:prstGeom prst="ellipse">
            <a:avLst/>
          </a:prstGeom>
          <a:solidFill>
            <a:srgbClr val="D44636"/>
          </a:solidFill>
          <a:ln/>
        </p:spPr>
      </p:sp>
      <p:sp>
        <p:nvSpPr>
          <p:cNvPr id="9" name="Text 7"/>
          <p:cNvSpPr/>
          <p:nvPr/>
        </p:nvSpPr>
        <p:spPr>
          <a:xfrm>
            <a:off x="1051560" y="17830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039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可视化 Diff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2880360" y="17830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7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逐行对比代码变更，支持合并冲突解决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31520" y="2404872"/>
            <a:ext cx="201168" cy="201168"/>
          </a:xfrm>
          <a:prstGeom prst="ellipse">
            <a:avLst/>
          </a:prstGeom>
          <a:solidFill>
            <a:srgbClr val="D44636"/>
          </a:solidFill>
          <a:ln/>
        </p:spPr>
      </p:sp>
      <p:sp>
        <p:nvSpPr>
          <p:cNvPr id="12" name="Text 10"/>
          <p:cNvSpPr/>
          <p:nvPr/>
        </p:nvSpPr>
        <p:spPr>
          <a:xfrm>
            <a:off x="1051560" y="23317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039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Local History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2880360" y="23317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7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自动记录文件变更，随时回退到任意版本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31520" y="2953512"/>
            <a:ext cx="201168" cy="201168"/>
          </a:xfrm>
          <a:prstGeom prst="ellipse">
            <a:avLst/>
          </a:prstGeom>
          <a:solidFill>
            <a:srgbClr val="D44636"/>
          </a:solidFill>
          <a:ln/>
        </p:spPr>
      </p:sp>
      <p:sp>
        <p:nvSpPr>
          <p:cNvPr id="15" name="Text 13"/>
          <p:cNvSpPr/>
          <p:nvPr/>
        </p:nvSpPr>
        <p:spPr>
          <a:xfrm>
            <a:off x="1051560" y="28803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039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Interactive Rebase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2880360" y="28803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7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图形化整理提交历史，保持分支整洁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31520" y="3502152"/>
            <a:ext cx="201168" cy="201168"/>
          </a:xfrm>
          <a:prstGeom prst="ellipse">
            <a:avLst/>
          </a:prstGeom>
          <a:solidFill>
            <a:srgbClr val="D44636"/>
          </a:solidFill>
          <a:ln/>
        </p:spPr>
      </p:sp>
      <p:sp>
        <p:nvSpPr>
          <p:cNvPr id="18" name="Text 16"/>
          <p:cNvSpPr/>
          <p:nvPr/>
        </p:nvSpPr>
        <p:spPr>
          <a:xfrm>
            <a:off x="1051560" y="34290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039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Cherry-Pick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2880360" y="34290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7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精确选择提交，跨分支应用变更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31520" y="4050792"/>
            <a:ext cx="201168" cy="201168"/>
          </a:xfrm>
          <a:prstGeom prst="ellipse">
            <a:avLst/>
          </a:prstGeom>
          <a:solidFill>
            <a:srgbClr val="D44636"/>
          </a:solidFill>
          <a:ln/>
        </p:spPr>
      </p:sp>
      <p:sp>
        <p:nvSpPr>
          <p:cNvPr id="21" name="Text 19"/>
          <p:cNvSpPr/>
          <p:nvPr/>
        </p:nvSpPr>
        <p:spPr>
          <a:xfrm>
            <a:off x="1051560" y="39776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039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Blame 查看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2880360" y="39776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7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追溯每行代码的修改人与时间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760720" y="1097280"/>
            <a:ext cx="292608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760720" y="1097280"/>
            <a:ext cx="2926080" cy="4114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5" name="Text 23"/>
          <p:cNvSpPr/>
          <p:nvPr/>
        </p:nvSpPr>
        <p:spPr>
          <a:xfrm>
            <a:off x="5943600" y="109728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常用 Git 操作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943600" y="16459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32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Commit (Ctrl+K)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943600" y="20116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32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Push (Ctrl+Shift+K)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943600" y="23774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32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Update Project (Ctrl+T)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943600" y="27432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32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Show History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943600" y="31089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32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Branches (Ctrl+`)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943600" y="34747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32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Merge / Rebase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943600" y="38404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32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Stash Changes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EEA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463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446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51560" y="2743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039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分支策略 — Git Flow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868680"/>
            <a:ext cx="8229600" cy="18288"/>
          </a:xfrm>
          <a:prstGeom prst="rect">
            <a:avLst/>
          </a:prstGeom>
          <a:solidFill>
            <a:srgbClr val="F5EDDA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2468880"/>
            <a:ext cx="7680960" cy="4572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214884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31520" y="3566160"/>
            <a:ext cx="7680960" cy="45720"/>
          </a:xfrm>
          <a:prstGeom prst="rect">
            <a:avLst/>
          </a:prstGeom>
          <a:solidFill>
            <a:srgbClr val="D44636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324612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46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develop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371600" y="3566160"/>
            <a:ext cx="27432" cy="365760"/>
          </a:xfrm>
          <a:prstGeom prst="rect">
            <a:avLst/>
          </a:prstGeom>
          <a:solidFill>
            <a:srgbClr val="6B8E4E"/>
          </a:solidFill>
          <a:ln/>
        </p:spPr>
      </p:sp>
      <p:sp>
        <p:nvSpPr>
          <p:cNvPr id="11" name="Shape 9"/>
          <p:cNvSpPr/>
          <p:nvPr/>
        </p:nvSpPr>
        <p:spPr>
          <a:xfrm>
            <a:off x="1371600" y="3931920"/>
            <a:ext cx="1463040" cy="27432"/>
          </a:xfrm>
          <a:prstGeom prst="rect">
            <a:avLst/>
          </a:prstGeom>
          <a:solidFill>
            <a:srgbClr val="6B8E4E"/>
          </a:solidFill>
          <a:ln/>
        </p:spPr>
      </p:sp>
      <p:sp>
        <p:nvSpPr>
          <p:cNvPr id="12" name="Shape 10"/>
          <p:cNvSpPr/>
          <p:nvPr/>
        </p:nvSpPr>
        <p:spPr>
          <a:xfrm>
            <a:off x="2834640" y="3566160"/>
            <a:ext cx="27432" cy="365760"/>
          </a:xfrm>
          <a:prstGeom prst="rect">
            <a:avLst/>
          </a:prstGeom>
          <a:solidFill>
            <a:srgbClr val="6B8E4E"/>
          </a:solidFill>
          <a:ln/>
        </p:spPr>
      </p:sp>
      <p:sp>
        <p:nvSpPr>
          <p:cNvPr id="13" name="Text 11"/>
          <p:cNvSpPr/>
          <p:nvPr/>
        </p:nvSpPr>
        <p:spPr>
          <a:xfrm>
            <a:off x="1463040" y="40233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8E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feature/login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474720" y="3566160"/>
            <a:ext cx="27432" cy="365760"/>
          </a:xfrm>
          <a:prstGeom prst="rect">
            <a:avLst/>
          </a:prstGeom>
          <a:solidFill>
            <a:srgbClr val="D44636"/>
          </a:solidFill>
          <a:ln/>
        </p:spPr>
      </p:sp>
      <p:sp>
        <p:nvSpPr>
          <p:cNvPr id="15" name="Shape 13"/>
          <p:cNvSpPr/>
          <p:nvPr/>
        </p:nvSpPr>
        <p:spPr>
          <a:xfrm>
            <a:off x="3474720" y="3931920"/>
            <a:ext cx="1463040" cy="27432"/>
          </a:xfrm>
          <a:prstGeom prst="rect">
            <a:avLst/>
          </a:prstGeom>
          <a:solidFill>
            <a:srgbClr val="D44636"/>
          </a:solidFill>
          <a:ln/>
        </p:spPr>
      </p:sp>
      <p:sp>
        <p:nvSpPr>
          <p:cNvPr id="16" name="Shape 14"/>
          <p:cNvSpPr/>
          <p:nvPr/>
        </p:nvSpPr>
        <p:spPr>
          <a:xfrm>
            <a:off x="4937760" y="3566160"/>
            <a:ext cx="27432" cy="365760"/>
          </a:xfrm>
          <a:prstGeom prst="rect">
            <a:avLst/>
          </a:prstGeom>
          <a:solidFill>
            <a:srgbClr val="D44636"/>
          </a:solidFill>
          <a:ln/>
        </p:spPr>
      </p:sp>
      <p:sp>
        <p:nvSpPr>
          <p:cNvPr id="17" name="Text 15"/>
          <p:cNvSpPr/>
          <p:nvPr/>
        </p:nvSpPr>
        <p:spPr>
          <a:xfrm>
            <a:off x="3566160" y="40233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46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feature/search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577840" y="3566160"/>
            <a:ext cx="27432" cy="365760"/>
          </a:xfrm>
          <a:prstGeom prst="rect">
            <a:avLst/>
          </a:prstGeom>
          <a:solidFill>
            <a:srgbClr val="8E5A3A"/>
          </a:solidFill>
          <a:ln/>
        </p:spPr>
      </p:sp>
      <p:sp>
        <p:nvSpPr>
          <p:cNvPr id="19" name="Shape 17"/>
          <p:cNvSpPr/>
          <p:nvPr/>
        </p:nvSpPr>
        <p:spPr>
          <a:xfrm>
            <a:off x="5577840" y="3931920"/>
            <a:ext cx="1463040" cy="27432"/>
          </a:xfrm>
          <a:prstGeom prst="rect">
            <a:avLst/>
          </a:prstGeom>
          <a:solidFill>
            <a:srgbClr val="8E5A3A"/>
          </a:solidFill>
          <a:ln/>
        </p:spPr>
      </p:sp>
      <p:sp>
        <p:nvSpPr>
          <p:cNvPr id="20" name="Shape 18"/>
          <p:cNvSpPr/>
          <p:nvPr/>
        </p:nvSpPr>
        <p:spPr>
          <a:xfrm>
            <a:off x="7040880" y="3566160"/>
            <a:ext cx="27432" cy="365760"/>
          </a:xfrm>
          <a:prstGeom prst="rect">
            <a:avLst/>
          </a:prstGeom>
          <a:solidFill>
            <a:srgbClr val="8E5A3A"/>
          </a:solidFill>
          <a:ln/>
        </p:spPr>
      </p:sp>
      <p:sp>
        <p:nvSpPr>
          <p:cNvPr id="21" name="Text 19"/>
          <p:cNvSpPr/>
          <p:nvPr/>
        </p:nvSpPr>
        <p:spPr>
          <a:xfrm>
            <a:off x="5669280" y="40233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E5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feature/payment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583680" y="1920240"/>
            <a:ext cx="27432" cy="54864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3" name="Shape 21"/>
          <p:cNvSpPr/>
          <p:nvPr/>
        </p:nvSpPr>
        <p:spPr>
          <a:xfrm>
            <a:off x="6583680" y="1920240"/>
            <a:ext cx="1097280" cy="2743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4" name="Shape 22"/>
          <p:cNvSpPr/>
          <p:nvPr/>
        </p:nvSpPr>
        <p:spPr>
          <a:xfrm>
            <a:off x="7680960" y="1920240"/>
            <a:ext cx="27432" cy="54864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5" name="Text 23"/>
          <p:cNvSpPr/>
          <p:nvPr/>
        </p:nvSpPr>
        <p:spPr>
          <a:xfrm>
            <a:off x="6675120" y="16459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hotfix/v1.0.1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754880" y="2011680"/>
            <a:ext cx="27432" cy="45720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27" name="Shape 25"/>
          <p:cNvSpPr/>
          <p:nvPr/>
        </p:nvSpPr>
        <p:spPr>
          <a:xfrm>
            <a:off x="4754880" y="2011680"/>
            <a:ext cx="914400" cy="27432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28" name="Shape 26"/>
          <p:cNvSpPr/>
          <p:nvPr/>
        </p:nvSpPr>
        <p:spPr>
          <a:xfrm>
            <a:off x="5669280" y="2011680"/>
            <a:ext cx="27432" cy="45720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29" name="Text 27"/>
          <p:cNvSpPr/>
          <p:nvPr/>
        </p:nvSpPr>
        <p:spPr>
          <a:xfrm>
            <a:off x="4846320" y="173736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A8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release/v1.0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487168" y="2414016"/>
            <a:ext cx="164592" cy="164592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31" name="Shape 29"/>
          <p:cNvSpPr/>
          <p:nvPr/>
        </p:nvSpPr>
        <p:spPr>
          <a:xfrm>
            <a:off x="4498848" y="2414016"/>
            <a:ext cx="164592" cy="164592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32" name="Shape 30"/>
          <p:cNvSpPr/>
          <p:nvPr/>
        </p:nvSpPr>
        <p:spPr>
          <a:xfrm>
            <a:off x="6510528" y="2414016"/>
            <a:ext cx="164592" cy="164592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33" name="Shape 31"/>
          <p:cNvSpPr/>
          <p:nvPr/>
        </p:nvSpPr>
        <p:spPr>
          <a:xfrm>
            <a:off x="8339328" y="2414016"/>
            <a:ext cx="164592" cy="164592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34" name="Shape 32"/>
          <p:cNvSpPr/>
          <p:nvPr/>
        </p:nvSpPr>
        <p:spPr>
          <a:xfrm>
            <a:off x="2029968" y="3511296"/>
            <a:ext cx="164592" cy="164592"/>
          </a:xfrm>
          <a:prstGeom prst="ellipse">
            <a:avLst/>
          </a:prstGeom>
          <a:solidFill>
            <a:srgbClr val="D44636"/>
          </a:solidFill>
          <a:ln/>
        </p:spPr>
      </p:sp>
      <p:sp>
        <p:nvSpPr>
          <p:cNvPr id="35" name="Shape 33"/>
          <p:cNvSpPr/>
          <p:nvPr/>
        </p:nvSpPr>
        <p:spPr>
          <a:xfrm>
            <a:off x="3401568" y="3511296"/>
            <a:ext cx="164592" cy="164592"/>
          </a:xfrm>
          <a:prstGeom prst="ellipse">
            <a:avLst/>
          </a:prstGeom>
          <a:solidFill>
            <a:srgbClr val="D44636"/>
          </a:solidFill>
          <a:ln/>
        </p:spPr>
      </p:sp>
      <p:sp>
        <p:nvSpPr>
          <p:cNvPr id="36" name="Shape 34"/>
          <p:cNvSpPr/>
          <p:nvPr/>
        </p:nvSpPr>
        <p:spPr>
          <a:xfrm>
            <a:off x="4773168" y="3511296"/>
            <a:ext cx="164592" cy="164592"/>
          </a:xfrm>
          <a:prstGeom prst="ellipse">
            <a:avLst/>
          </a:prstGeom>
          <a:solidFill>
            <a:srgbClr val="D44636"/>
          </a:solidFill>
          <a:ln/>
        </p:spPr>
      </p:sp>
      <p:sp>
        <p:nvSpPr>
          <p:cNvPr id="37" name="Shape 35"/>
          <p:cNvSpPr/>
          <p:nvPr/>
        </p:nvSpPr>
        <p:spPr>
          <a:xfrm>
            <a:off x="6144768" y="3511296"/>
            <a:ext cx="164592" cy="164592"/>
          </a:xfrm>
          <a:prstGeom prst="ellipse">
            <a:avLst/>
          </a:prstGeom>
          <a:solidFill>
            <a:srgbClr val="D44636"/>
          </a:solidFill>
          <a:ln/>
        </p:spPr>
      </p:sp>
      <p:sp>
        <p:nvSpPr>
          <p:cNvPr id="38" name="Shape 36"/>
          <p:cNvSpPr/>
          <p:nvPr/>
        </p:nvSpPr>
        <p:spPr>
          <a:xfrm>
            <a:off x="7516368" y="3511296"/>
            <a:ext cx="164592" cy="164592"/>
          </a:xfrm>
          <a:prstGeom prst="ellipse">
            <a:avLst/>
          </a:prstGeom>
          <a:solidFill>
            <a:srgbClr val="D44636"/>
          </a:solidFill>
          <a:ln/>
        </p:spPr>
      </p:sp>
      <p:sp>
        <p:nvSpPr>
          <p:cNvPr id="39" name="Shape 37"/>
          <p:cNvSpPr/>
          <p:nvPr/>
        </p:nvSpPr>
        <p:spPr>
          <a:xfrm>
            <a:off x="8705088" y="3511296"/>
            <a:ext cx="164592" cy="164592"/>
          </a:xfrm>
          <a:prstGeom prst="ellipse">
            <a:avLst/>
          </a:prstGeom>
          <a:solidFill>
            <a:srgbClr val="D44636"/>
          </a:solidFill>
          <a:ln/>
        </p:spPr>
      </p:sp>
      <p:sp>
        <p:nvSpPr>
          <p:cNvPr id="40" name="Shape 38"/>
          <p:cNvSpPr/>
          <p:nvPr/>
        </p:nvSpPr>
        <p:spPr>
          <a:xfrm>
            <a:off x="731520" y="3474720"/>
            <a:ext cx="228600" cy="36576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41" name="Text 39"/>
          <p:cNvSpPr/>
          <p:nvPr/>
        </p:nvSpPr>
        <p:spPr>
          <a:xfrm>
            <a:off x="1051560" y="336499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3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— 生产环境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731520" y="3749040"/>
            <a:ext cx="228600" cy="36576"/>
          </a:xfrm>
          <a:prstGeom prst="rect">
            <a:avLst/>
          </a:prstGeom>
          <a:solidFill>
            <a:srgbClr val="D44636"/>
          </a:solidFill>
          <a:ln/>
        </p:spPr>
      </p:sp>
      <p:sp>
        <p:nvSpPr>
          <p:cNvPr id="43" name="Text 41"/>
          <p:cNvSpPr/>
          <p:nvPr/>
        </p:nvSpPr>
        <p:spPr>
          <a:xfrm>
            <a:off x="1051560" y="363931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3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— 开发主干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731520" y="4023360"/>
            <a:ext cx="228600" cy="36576"/>
          </a:xfrm>
          <a:prstGeom prst="rect">
            <a:avLst/>
          </a:prstGeom>
          <a:solidFill>
            <a:srgbClr val="6B8E4E"/>
          </a:solidFill>
          <a:ln/>
        </p:spPr>
      </p:sp>
      <p:sp>
        <p:nvSpPr>
          <p:cNvPr id="45" name="Text 43"/>
          <p:cNvSpPr/>
          <p:nvPr/>
        </p:nvSpPr>
        <p:spPr>
          <a:xfrm>
            <a:off x="1051560" y="391363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3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feature/* — 功能开发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731520" y="4297680"/>
            <a:ext cx="228600" cy="36576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47" name="Text 45"/>
          <p:cNvSpPr/>
          <p:nvPr/>
        </p:nvSpPr>
        <p:spPr>
          <a:xfrm>
            <a:off x="1051560" y="41879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3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release/* — 发布准备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731520" y="4572000"/>
            <a:ext cx="228600" cy="36576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49" name="Text 47"/>
          <p:cNvSpPr/>
          <p:nvPr/>
        </p:nvSpPr>
        <p:spPr>
          <a:xfrm>
            <a:off x="1051560" y="446227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3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hotfix/* — 紧急修复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3657600" y="3337560"/>
            <a:ext cx="502920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1" name="Text 49"/>
          <p:cNvSpPr/>
          <p:nvPr/>
        </p:nvSpPr>
        <p:spPr>
          <a:xfrm>
            <a:off x="3840480" y="342900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分支命名规范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3840480" y="379476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32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feature/TASK-123-login  |  bugfix/TASK-456-fix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EEA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463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446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51560" y="2743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039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开发流程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868680"/>
            <a:ext cx="8229600" cy="18288"/>
          </a:xfrm>
          <a:prstGeom prst="rect">
            <a:avLst/>
          </a:prstGeom>
          <a:solidFill>
            <a:srgbClr val="F5EDDA"/>
          </a:solidFill>
          <a:ln/>
        </p:spPr>
      </p:sp>
      <p:sp>
        <p:nvSpPr>
          <p:cNvPr id="6" name="Shape 4"/>
          <p:cNvSpPr/>
          <p:nvPr/>
        </p:nvSpPr>
        <p:spPr>
          <a:xfrm>
            <a:off x="397764" y="1188720"/>
            <a:ext cx="1051560" cy="1097280"/>
          </a:xfrm>
          <a:prstGeom prst="rect">
            <a:avLst/>
          </a:prstGeom>
          <a:solidFill>
            <a:srgbClr val="C0392B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97764" y="1261872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97764" y="1536192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需求分析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97764" y="1847088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Issue/Ticket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449324" y="1188720"/>
            <a:ext cx="1645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C7E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613916" y="1188720"/>
            <a:ext cx="1051560" cy="1097280"/>
          </a:xfrm>
          <a:prstGeom prst="rect">
            <a:avLst/>
          </a:prstGeom>
          <a:solidFill>
            <a:srgbClr val="D44636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613916" y="1261872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613916" y="1536192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创建分支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613916" y="1847088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feature/*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665476" y="1188720"/>
            <a:ext cx="1645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C7E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2830068" y="1188720"/>
            <a:ext cx="1051560" cy="1097280"/>
          </a:xfrm>
          <a:prstGeom prst="rect">
            <a:avLst/>
          </a:prstGeom>
          <a:solidFill>
            <a:srgbClr val="D44636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830068" y="1261872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830068" y="1536192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编码开发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830068" y="1847088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PyCharm IDE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881628" y="1188720"/>
            <a:ext cx="1645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C7E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046220" y="1188720"/>
            <a:ext cx="1051560" cy="1097280"/>
          </a:xfrm>
          <a:prstGeom prst="rect">
            <a:avLst/>
          </a:prstGeom>
          <a:solidFill>
            <a:srgbClr val="6B8E4E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046220" y="1261872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046220" y="1536192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本地测试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046220" y="1847088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097780" y="1188720"/>
            <a:ext cx="1645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C7E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5262372" y="1188720"/>
            <a:ext cx="1051560" cy="1097280"/>
          </a:xfrm>
          <a:prstGeom prst="rect">
            <a:avLst/>
          </a:prstGeom>
          <a:solidFill>
            <a:srgbClr val="E8A838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262372" y="1261872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262372" y="1536192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提交代码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262372" y="1847088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Commit+Push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313932" y="1188720"/>
            <a:ext cx="1645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C7E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78524" y="1188720"/>
            <a:ext cx="1051560" cy="1097280"/>
          </a:xfrm>
          <a:prstGeom prst="rect">
            <a:avLst/>
          </a:prstGeom>
          <a:solidFill>
            <a:srgbClr val="D44636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6478524" y="1261872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478524" y="1536192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代码审查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478524" y="1847088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Request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7530084" y="1188720"/>
            <a:ext cx="1645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C7E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7694676" y="1188720"/>
            <a:ext cx="1051560" cy="1097280"/>
          </a:xfrm>
          <a:prstGeom prst="rect">
            <a:avLst/>
          </a:prstGeom>
          <a:solidFill>
            <a:srgbClr val="8E5A3A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7694676" y="1261872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7694676" y="1536192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合并部署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7694676" y="1847088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Merge+CI/CD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57200" y="2560320"/>
            <a:ext cx="822960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640080" y="265176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Commit Message 规范 (Conventional Commits)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640080" y="31546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8E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feat:  新功能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3337560" y="31546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fix:  修复 Bug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035040" y="31546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46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docs:  文档更新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640080" y="37947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E5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refactor:  代码重构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3337560" y="37947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46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test:  测试相关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6035040" y="37947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C7E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chore:  构建/工具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EEA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463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446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51560" y="2743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039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代码审查 (Code Review)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868680"/>
            <a:ext cx="8229600" cy="18288"/>
          </a:xfrm>
          <a:prstGeom prst="rect">
            <a:avLst/>
          </a:prstGeom>
          <a:solidFill>
            <a:srgbClr val="F5EDDA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097280"/>
            <a:ext cx="393192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097280"/>
            <a:ext cx="3931920" cy="457200"/>
          </a:xfrm>
          <a:prstGeom prst="rect">
            <a:avLst/>
          </a:prstGeom>
          <a:solidFill>
            <a:srgbClr val="D44636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09728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PyCharm 审查工具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31520" y="169164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3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Diff 对比 — 逐行对比分支差异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219456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3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Annotations — 查看代码修改历史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269748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3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TODO 视图 — 追踪待办事项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31520" y="320040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3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Code Inspection — 静态代码分析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31520" y="370332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3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Quality Profiles — 自定义代码质量规则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754880" y="1097280"/>
            <a:ext cx="393192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54880" y="1097280"/>
            <a:ext cx="3931920" cy="457200"/>
          </a:xfrm>
          <a:prstGeom prst="rect">
            <a:avLst/>
          </a:prstGeom>
          <a:solidFill>
            <a:srgbClr val="D44636"/>
          </a:solidFill>
          <a:ln/>
        </p:spPr>
      </p:sp>
      <p:sp>
        <p:nvSpPr>
          <p:cNvPr id="16" name="Text 14"/>
          <p:cNvSpPr/>
          <p:nvPr/>
        </p:nvSpPr>
        <p:spPr>
          <a:xfrm>
            <a:off x="4937760" y="109728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Review 检查清单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029200" y="16916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3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功能实现是否符合需求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029200" y="207568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3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代码逻辑是否清晰可读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029200" y="2459736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3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是否有潜在的 Bug 或安全问题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029200" y="2843784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3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是否遵循团队编码规范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029200" y="322783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3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是否有充分的测试覆盖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029200" y="36118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3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性能是否有可优化空间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029200" y="399592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3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文档/注释是否充分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EEA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463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446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07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51560" y="2743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039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调试与测试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868680"/>
            <a:ext cx="8229600" cy="18288"/>
          </a:xfrm>
          <a:prstGeom prst="rect">
            <a:avLst/>
          </a:prstGeom>
          <a:solidFill>
            <a:srgbClr val="F5EDDA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097280"/>
            <a:ext cx="393192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097280"/>
            <a:ext cx="3931920" cy="411480"/>
          </a:xfrm>
          <a:prstGeom prst="rect">
            <a:avLst/>
          </a:prstGeom>
          <a:solidFill>
            <a:srgbClr val="D44636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09728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Debug 调试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162763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3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断点调试 — 行号处点击设断点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192938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3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条件断点 — 右键设置触发条件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" y="223113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3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Evaluate — 运行时修改变量值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31520" y="253288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3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Remote Debug — 调试远程服务器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54880" y="1097280"/>
            <a:ext cx="393192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54880" y="1097280"/>
            <a:ext cx="3931920" cy="411480"/>
          </a:xfrm>
          <a:prstGeom prst="rect">
            <a:avLst/>
          </a:prstGeom>
          <a:solidFill>
            <a:srgbClr val="6B8E4E"/>
          </a:solidFill>
          <a:ln/>
        </p:spPr>
      </p:sp>
      <p:sp>
        <p:nvSpPr>
          <p:cNvPr id="15" name="Text 13"/>
          <p:cNvSpPr/>
          <p:nvPr/>
        </p:nvSpPr>
        <p:spPr>
          <a:xfrm>
            <a:off x="4937760" y="109728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 测试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029200" y="162763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3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pytest — 单元测试框架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0" y="192938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3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Coverage — 代码覆盖率检查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029200" y="223113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3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Mock — 模拟外部依赖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29200" y="253288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3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CI 集成 — 提交自动运行测试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108960"/>
            <a:ext cx="822960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" y="3108960"/>
            <a:ext cx="8229600" cy="4114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310896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CI/CD 流水线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960120" y="3703320"/>
            <a:ext cx="1188720" cy="502920"/>
          </a:xfrm>
          <a:prstGeom prst="rect">
            <a:avLst/>
          </a:prstGeom>
          <a:solidFill>
            <a:srgbClr val="D44636"/>
          </a:solidFill>
          <a:ln/>
        </p:spPr>
      </p:sp>
      <p:sp>
        <p:nvSpPr>
          <p:cNvPr id="24" name="Text 22"/>
          <p:cNvSpPr/>
          <p:nvPr/>
        </p:nvSpPr>
        <p:spPr>
          <a:xfrm>
            <a:off x="960120" y="370332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Push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2148840" y="3703320"/>
            <a:ext cx="320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C7E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2468880" y="3703320"/>
            <a:ext cx="1188720" cy="502920"/>
          </a:xfrm>
          <a:prstGeom prst="rect">
            <a:avLst/>
          </a:prstGeom>
          <a:solidFill>
            <a:srgbClr val="D44636"/>
          </a:solidFill>
          <a:ln/>
        </p:spPr>
      </p:sp>
      <p:sp>
        <p:nvSpPr>
          <p:cNvPr id="27" name="Text 25"/>
          <p:cNvSpPr/>
          <p:nvPr/>
        </p:nvSpPr>
        <p:spPr>
          <a:xfrm>
            <a:off x="2468880" y="370332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Lint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657600" y="3703320"/>
            <a:ext cx="320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C7E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3977640" y="3703320"/>
            <a:ext cx="1188720" cy="502920"/>
          </a:xfrm>
          <a:prstGeom prst="rect">
            <a:avLst/>
          </a:prstGeom>
          <a:solidFill>
            <a:srgbClr val="6B8E4E"/>
          </a:solidFill>
          <a:ln/>
        </p:spPr>
      </p:sp>
      <p:sp>
        <p:nvSpPr>
          <p:cNvPr id="30" name="Text 28"/>
          <p:cNvSpPr/>
          <p:nvPr/>
        </p:nvSpPr>
        <p:spPr>
          <a:xfrm>
            <a:off x="3977640" y="370332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166360" y="3703320"/>
            <a:ext cx="320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C7E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5486400" y="3703320"/>
            <a:ext cx="1188720" cy="50292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33" name="Text 31"/>
          <p:cNvSpPr/>
          <p:nvPr/>
        </p:nvSpPr>
        <p:spPr>
          <a:xfrm>
            <a:off x="5486400" y="370332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675120" y="3703320"/>
            <a:ext cx="320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C7E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6995160" y="3703320"/>
            <a:ext cx="1188720" cy="502920"/>
          </a:xfrm>
          <a:prstGeom prst="rect">
            <a:avLst/>
          </a:prstGeom>
          <a:solidFill>
            <a:srgbClr val="8E5A3A"/>
          </a:solidFill>
          <a:ln/>
        </p:spPr>
      </p:sp>
      <p:sp>
        <p:nvSpPr>
          <p:cNvPr id="36" name="Text 34"/>
          <p:cNvSpPr/>
          <p:nvPr/>
        </p:nvSpPr>
        <p:spPr>
          <a:xfrm>
            <a:off x="6995160" y="370332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Deploy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EEA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463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446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08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51560" y="2743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039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远程协作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868680"/>
            <a:ext cx="8229600" cy="18288"/>
          </a:xfrm>
          <a:prstGeom prst="rect">
            <a:avLst/>
          </a:prstGeom>
          <a:solidFill>
            <a:srgbClr val="F5EDDA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097280"/>
            <a:ext cx="393192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097280"/>
            <a:ext cx="3931920" cy="457200"/>
          </a:xfrm>
          <a:prstGeom prst="rect">
            <a:avLst/>
          </a:prstGeom>
          <a:solidFill>
            <a:srgbClr val="D44636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09728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Code With Me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31520" y="16916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3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实时多人协同编码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21031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3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共享编辑器与终端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25146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3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语音通话集成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31520" y="29260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3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权限控制 (只读/完全控制)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31520" y="33375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3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会话录制与回放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31520" y="3749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3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支持 JetBrains 全系列 IDE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754880" y="1097280"/>
            <a:ext cx="393192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54880" y="1097280"/>
            <a:ext cx="3931920" cy="457200"/>
          </a:xfrm>
          <a:prstGeom prst="rect">
            <a:avLst/>
          </a:prstGeom>
          <a:solidFill>
            <a:srgbClr val="D44636"/>
          </a:solidFill>
          <a:ln/>
        </p:spPr>
      </p:sp>
      <p:sp>
        <p:nvSpPr>
          <p:cNvPr id="17" name="Text 15"/>
          <p:cNvSpPr/>
          <p:nvPr/>
        </p:nvSpPr>
        <p:spPr>
          <a:xfrm>
            <a:off x="4937760" y="109728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远程开发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029200" y="16916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3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SSH Remote — 远程服务器开发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029200" y="21031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3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Docker — 容器化开发环境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029200" y="25146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3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WSL — Windows 子系统支持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029200" y="29260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3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Gateway — 远程 IDE 托管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029200" y="33375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3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Remote Interpreter — 远程解释器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029200" y="3749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3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端口转发 — 调试远程服务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EEA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463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446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09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51560" y="2743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039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最佳实践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868680"/>
            <a:ext cx="8229600" cy="18288"/>
          </a:xfrm>
          <a:prstGeom prst="rect">
            <a:avLst/>
          </a:prstGeom>
          <a:solidFill>
            <a:srgbClr val="F5EDDA"/>
          </a:solidFill>
          <a:ln/>
        </p:spPr>
      </p:sp>
      <p:sp>
        <p:nvSpPr>
          <p:cNvPr id="6" name="Shape 4"/>
          <p:cNvSpPr/>
          <p:nvPr/>
        </p:nvSpPr>
        <p:spPr>
          <a:xfrm>
            <a:off x="480060" y="1097280"/>
            <a:ext cx="260604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80060" y="1097280"/>
            <a:ext cx="2606040" cy="45720"/>
          </a:xfrm>
          <a:prstGeom prst="rect">
            <a:avLst/>
          </a:prstGeom>
          <a:solidFill>
            <a:srgbClr val="D44636"/>
          </a:solidFill>
          <a:ln/>
        </p:spPr>
      </p:sp>
      <p:sp>
        <p:nvSpPr>
          <p:cNvPr id="8" name="Text 6"/>
          <p:cNvSpPr/>
          <p:nvPr/>
        </p:nvSpPr>
        <p:spPr>
          <a:xfrm>
            <a:off x="662940" y="128016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统一代码风格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08660" y="169164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3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使用 .editorconfig 统一缩进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08660" y="205740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3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PyCharm Code Style 共享配置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08660" y="242316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3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提交前自动格式化 (Black/isort)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68980" y="1097280"/>
            <a:ext cx="260604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68980" y="1097280"/>
            <a:ext cx="2606040" cy="45720"/>
          </a:xfrm>
          <a:prstGeom prst="rect">
            <a:avLst/>
          </a:prstGeom>
          <a:solidFill>
            <a:srgbClr val="D44636"/>
          </a:solidFill>
          <a:ln/>
        </p:spPr>
      </p:sp>
      <p:sp>
        <p:nvSpPr>
          <p:cNvPr id="14" name="Text 12"/>
          <p:cNvSpPr/>
          <p:nvPr/>
        </p:nvSpPr>
        <p:spPr>
          <a:xfrm>
            <a:off x="3451860" y="128016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分支管理规范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497580" y="169164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3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一个功能一个分支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497580" y="205740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3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分支命名包含任务编号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497580" y="242316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3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及时删除已合并分支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057900" y="1097280"/>
            <a:ext cx="260604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057900" y="1097280"/>
            <a:ext cx="2606040" cy="45720"/>
          </a:xfrm>
          <a:prstGeom prst="rect">
            <a:avLst/>
          </a:prstGeom>
          <a:solidFill>
            <a:srgbClr val="6B8E4E"/>
          </a:solidFill>
          <a:ln/>
        </p:spPr>
      </p:sp>
      <p:sp>
        <p:nvSpPr>
          <p:cNvPr id="20" name="Text 18"/>
          <p:cNvSpPr/>
          <p:nvPr/>
        </p:nvSpPr>
        <p:spPr>
          <a:xfrm>
            <a:off x="6240780" y="128016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提交信息规范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286500" y="169164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3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遵循 Conventional Commits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286500" y="205740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3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一个提交只做一件事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286500" y="242316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3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中文描述清晰明了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80060" y="3108960"/>
            <a:ext cx="260604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0060" y="3108960"/>
            <a:ext cx="2606040" cy="4572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26" name="Text 24"/>
          <p:cNvSpPr/>
          <p:nvPr/>
        </p:nvSpPr>
        <p:spPr>
          <a:xfrm>
            <a:off x="662940" y="329184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Code Review 文化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08660" y="370332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3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至少一人 Approve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708660" y="406908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3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建设性反馈，对事不对人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708660" y="443484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3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48 小时内完成审查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3268980" y="3108960"/>
            <a:ext cx="260604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268980" y="3108960"/>
            <a:ext cx="2606040" cy="45720"/>
          </a:xfrm>
          <a:prstGeom prst="rect">
            <a:avLst/>
          </a:prstGeom>
          <a:solidFill>
            <a:srgbClr val="D44636"/>
          </a:solidFill>
          <a:ln/>
        </p:spPr>
      </p:sp>
      <p:sp>
        <p:nvSpPr>
          <p:cNvPr id="32" name="Text 30"/>
          <p:cNvSpPr/>
          <p:nvPr/>
        </p:nvSpPr>
        <p:spPr>
          <a:xfrm>
            <a:off x="3451860" y="329184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测试驱动开发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97580" y="370332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3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核心逻辑必须有测试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3497580" y="406908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3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CI 自动运行测试套件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3497580" y="443484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3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覆盖率不低于 80%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057900" y="3108960"/>
            <a:ext cx="260604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057900" y="3108960"/>
            <a:ext cx="2606040" cy="45720"/>
          </a:xfrm>
          <a:prstGeom prst="rect">
            <a:avLst/>
          </a:prstGeom>
          <a:solidFill>
            <a:srgbClr val="8E5A3A"/>
          </a:solidFill>
          <a:ln/>
        </p:spPr>
      </p:sp>
      <p:sp>
        <p:nvSpPr>
          <p:cNvPr id="38" name="Text 36"/>
          <p:cNvSpPr/>
          <p:nvPr/>
        </p:nvSpPr>
        <p:spPr>
          <a:xfrm>
            <a:off x="6240780" y="329184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文档即代码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6286500" y="370332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3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README 说明项目概览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6286500" y="406908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3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API 文档自动生成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6286500" y="443484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3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变更日志跟随版本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EEA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463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446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51560" y="2743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039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总结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868680"/>
            <a:ext cx="8229600" cy="18288"/>
          </a:xfrm>
          <a:prstGeom prst="rect">
            <a:avLst/>
          </a:prstGeom>
          <a:solidFill>
            <a:srgbClr val="F5EDDA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097280"/>
            <a:ext cx="822960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1520" y="1325880"/>
            <a:ext cx="274320" cy="274320"/>
          </a:xfrm>
          <a:prstGeom prst="ellipse">
            <a:avLst/>
          </a:prstGeom>
          <a:solidFill>
            <a:srgbClr val="D44636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3258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43000" y="12801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3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PyCharm 提供一站式团队协作工具链，从编码到部署全流程覆盖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31520" y="1737360"/>
            <a:ext cx="274320" cy="274320"/>
          </a:xfrm>
          <a:prstGeom prst="ellipse">
            <a:avLst/>
          </a:prstGeom>
          <a:solidFill>
            <a:srgbClr val="D44636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17373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43000" y="1691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3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分支策略 + Code Review 是团队协作的基石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31520" y="2148840"/>
            <a:ext cx="274320" cy="274320"/>
          </a:xfrm>
          <a:prstGeom prst="ellipse">
            <a:avLst/>
          </a:prstGeom>
          <a:solidFill>
            <a:srgbClr val="6B8E4E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21488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43000" y="21031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3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自动化流水线保障代码质量与交付效率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31520" y="2560320"/>
            <a:ext cx="274320" cy="274320"/>
          </a:xfrm>
          <a:prstGeom prst="ellipse">
            <a:avLst/>
          </a:prstGeom>
          <a:solidFill>
            <a:srgbClr val="E8A838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25603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143000" y="2514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3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With Me 实现远程实时协作，打破地理限制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3200400"/>
            <a:ext cx="822960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40080" y="32918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039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下一步行动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40080" y="3822192"/>
            <a:ext cx="137160" cy="137160"/>
          </a:xfrm>
          <a:prstGeom prst="rect">
            <a:avLst/>
          </a:prstGeom>
          <a:solidFill>
            <a:srgbClr val="D44636"/>
          </a:solidFill>
          <a:ln/>
        </p:spPr>
      </p:sp>
      <p:sp>
        <p:nvSpPr>
          <p:cNvPr id="22" name="Text 20"/>
          <p:cNvSpPr/>
          <p:nvPr/>
        </p:nvSpPr>
        <p:spPr>
          <a:xfrm>
            <a:off x="914400" y="37490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3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配置统一的 .editorconfig 和 Code Style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754880" y="3822192"/>
            <a:ext cx="137160" cy="137160"/>
          </a:xfrm>
          <a:prstGeom prst="rect">
            <a:avLst/>
          </a:prstGeom>
          <a:solidFill>
            <a:srgbClr val="D44636"/>
          </a:solidFill>
          <a:ln/>
        </p:spPr>
      </p:sp>
      <p:sp>
        <p:nvSpPr>
          <p:cNvPr id="24" name="Text 22"/>
          <p:cNvSpPr/>
          <p:nvPr/>
        </p:nvSpPr>
        <p:spPr>
          <a:xfrm>
            <a:off x="5029200" y="37490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3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制定团队分支策略与 Commit 规范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40080" y="4187952"/>
            <a:ext cx="137160" cy="137160"/>
          </a:xfrm>
          <a:prstGeom prst="rect">
            <a:avLst/>
          </a:prstGeom>
          <a:solidFill>
            <a:srgbClr val="6B8E4E"/>
          </a:solidFill>
          <a:ln/>
        </p:spPr>
      </p:sp>
      <p:sp>
        <p:nvSpPr>
          <p:cNvPr id="26" name="Text 24"/>
          <p:cNvSpPr/>
          <p:nvPr/>
        </p:nvSpPr>
        <p:spPr>
          <a:xfrm>
            <a:off x="914400" y="4114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3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搭建 CI/CD 流水线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754880" y="4187952"/>
            <a:ext cx="137160" cy="13716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28" name="Text 26"/>
          <p:cNvSpPr/>
          <p:nvPr/>
        </p:nvSpPr>
        <p:spPr>
          <a:xfrm>
            <a:off x="5029200" y="4114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3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组织 Code Review 培训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C039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0"/>
            <a:ext cx="2560320" cy="1828800"/>
          </a:xfrm>
          <a:prstGeom prst="rect">
            <a:avLst/>
          </a:prstGeom>
          <a:solidFill>
            <a:srgbClr val="D44636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474720"/>
            <a:ext cx="2286000" cy="1668780"/>
          </a:xfrm>
          <a:prstGeom prst="rect">
            <a:avLst/>
          </a:prstGeom>
          <a:solidFill>
            <a:srgbClr val="D44636">
              <a:alpha val="2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3657600" y="1371600"/>
            <a:ext cx="1828800" cy="54864"/>
          </a:xfrm>
          <a:prstGeom prst="rect">
            <a:avLst/>
          </a:prstGeom>
          <a:solidFill>
            <a:srgbClr val="D44636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55448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457200" y="2560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D446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 &amp; A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33832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C7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感谢聆听  |  期待交流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8B2E1E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45262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5ED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PyCharm 团队协作开发项目流程  |  Presentation by Hinata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PyCharm 团队协作开发项目流程</dc:title>
  <dc:subject>PptxGenJS Presentation</dc:subject>
  <dc:creator>Hinata</dc:creator>
  <cp:lastModifiedBy>Hinata</cp:lastModifiedBy>
  <cp:revision>1</cp:revision>
  <dcterms:created xsi:type="dcterms:W3CDTF">2026-06-19T05:18:40Z</dcterms:created>
  <dcterms:modified xsi:type="dcterms:W3CDTF">2026-06-19T05:18:40Z</dcterms:modified>
</cp:coreProperties>
</file>