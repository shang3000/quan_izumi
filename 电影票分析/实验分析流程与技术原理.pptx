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AF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6B8F3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6B8F3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914400"/>
            <a:ext cx="6949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电影首映影院选择分析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从原始数据到决策推荐 — 全流程技术详解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大数据分析  ·  K-means 聚类  ·  数据可视化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不如吃茶去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数据分析的五个阶段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1371600"/>
            <a:ext cx="502920" cy="50292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发现并修复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数据中的错误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01952" y="1645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56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84832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1371600"/>
            <a:ext cx="502920" cy="50292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13" name="Text 11"/>
          <p:cNvSpPr/>
          <p:nvPr/>
        </p:nvSpPr>
        <p:spPr>
          <a:xfrm>
            <a:off x="2596896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30552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30552" y="22402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从原始数据中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提取有用指标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21024" y="1645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56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03904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15968" y="1371600"/>
            <a:ext cx="502920" cy="50292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19" name="Text 17"/>
          <p:cNvSpPr/>
          <p:nvPr/>
        </p:nvSpPr>
        <p:spPr>
          <a:xfrm>
            <a:off x="431596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9624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9624" y="22402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用算法自动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给影院分群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0096" y="1645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56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22976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371600"/>
            <a:ext cx="502920" cy="50292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68696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68696" y="22402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把分析结果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变成直观图表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59168" y="1645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5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42048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54112" y="1371600"/>
            <a:ext cx="502920" cy="50292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31" name="Text 29"/>
          <p:cNvSpPr/>
          <p:nvPr/>
        </p:nvSpPr>
        <p:spPr>
          <a:xfrm>
            <a:off x="775411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87768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决策推荐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87768" y="22402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基于数据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做出业务决策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数据概况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35661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电影票销售数据：记录了 239 家影院对 48 部电影的 7520 场放映的销售情况。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每条记录包含：影院编号、电影编号、总票房、售出票数、退票数、上座率、票价、座位容量等 11 个字段。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目标：通过数据挖掘，找出最适合举办电影首映的影院。首映需要高票房、高上座率、大容量的影院来保证影响力。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阶段一：数据清洗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为什么不能直接用原始数据？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垃圾进，垃圾出（Garbage In, Garbage Out）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这是数据科学的第一定律。如果输入的数据有问题，无论算法多先进，输出的结果都是错的。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举个例子：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假设你要计算班级平均分，但有一个同学的成绩被错误录入为 -20 分。这一个异常值就会把全班平均分拉低好几分。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在聚类分析中，异常值的影响更大——它会「拽偏」聚类中心的位置，导致整个分群结果失真。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所以，数据清洗不是「可选步骤」，而是分析的地基。地基不稳，上面的楼再漂亮也会塌。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00400"/>
            <a:ext cx="26060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座位数为负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示例：capacity = -2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影响：拉低均值，扭曲聚类中心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731520" cy="274320"/>
          </a:xfrm>
          <a:prstGeom prst="rect">
            <a:avLst/>
          </a:prstGeom>
          <a:solidFill>
            <a:srgbClr val="C5D9A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20040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3200400"/>
            <a:ext cx="26060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使用票数为负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示例：ticket_use = -26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影响：逻辑错误，干扰售票统计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4251960"/>
            <a:ext cx="731520" cy="274320"/>
          </a:xfrm>
          <a:prstGeom prst="rect">
            <a:avLst/>
          </a:prstGeom>
          <a:solidFill>
            <a:srgbClr val="C5D9A4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20040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200400"/>
            <a:ext cx="26060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上座率超100%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示例：occu_perc = 109%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影响：物理不可能，数据采集错误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4251960"/>
            <a:ext cx="731520" cy="274320"/>
          </a:xfrm>
          <a:prstGeom prst="rect">
            <a:avLst/>
          </a:prstGeom>
          <a:solidFill>
            <a:srgbClr val="C5D9A4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清洗结果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清洗前后的对比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总记录：7,520 条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影院数：239 家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包含异常值：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座位数为负（3条）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使用票数为负（4条）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上座率超100%（7条）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BAF56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清洗后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总记录：7,506 条（保留 99.8%）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影院数：238 家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移除异常值：14 条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数据质量：全部通过逻辑校验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清洗比例很小（0.2%），说明原始数据质量还不错，只是有少量录入错误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清洗标准要基于「业务逻辑」：座位数不可能为负，上座率不可能超100%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清洗后要检查：是否影响了数据分布？移除的是否确实是错误而非特殊值？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阶段二：特征工程 — 聚合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为什么要把「场次数据」变成「影院画像」？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原始数据是「影院 × 电影」维度的：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影院 #352 放映电影 A → 1 条记录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影院 #352 放映电影 B → 1 条记录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影院 #352 放映电影 C → 1 条记录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K-means 需要每个「样本」是一个特征向量。我们想分析的是影院，不是某次放映。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必须按影院聚合：把同一个影院的所有放映记录合并为一条「影院画像」。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聚合过程演示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474720" cy="15544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聚合前（多条记录）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影院352 | 电影A | 票房1200万 | 上座率8%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影院352 | 电影B | 票房800万  | 上座率12%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影院352 | 电影C | 票房500万  | 上座率5%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8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共 15 条记录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AF56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297680" y="3200400"/>
            <a:ext cx="4389120" cy="1554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聚合后（一条画像）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3566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影院352: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总票房 = sum(所有电影) = 2500万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平均上座率 = mean(所有电影) = 8.3%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场次数 = count(电影种类) = 15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... + 其他特征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阶段二：特征工程 — 标准化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为什么量纲不同会影响聚类结果？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问题：大数值特征会「淹没」小数值特征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使用欧氏距离：d = √[(x₁-y₁)² + (x₂-y₂)² + ...]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假设影院 A 和 B：票房差 1 亿，上座率差 5%。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票房差的平方 = (1亿)² = 10¹⁶    上座率差的平方 = (5)² = 25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距离几乎完全由票房决定，上座率的影响被「淹没」了！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解决方案：StandardScaler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公式：z = (x - μ) / 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= 均值，σ = 标准差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处理后：每个特征的均值=0，标准差=1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所有特征处于同一量级，公平地参与距离计算。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26974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提取的 7 个特征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3218688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3182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total_sales  →  总票房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342900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3924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tickets_sold  →  总售票数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639312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6027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avg_occu  →  平均上座率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849624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813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avg_price  →  平均票价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4059936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avg_capacity  →  座位容量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4270248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4233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show_count  →  场次数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448056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4443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film_count  →  电影种类数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阶段三：K-means 聚类 — 原理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什么是聚类？为什么选 K-means？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聚类（Clustering）= 无监督学习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没有标签，让算法自己发现数据中的「群组」。就像把一堆水果分成「苹果堆、香蕉堆、橙子堆」——你不用提前告诉算法水果的名字，它会根据颜色、形状、大小自动分。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与分类的区别：分类是「有标签的学习」（已知答案），聚类是「无标签的探索」（不知道会分成什么）。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 K-means？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算法简单，容易理解和实现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计算效率高，适合中等规模数据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结果易于解释（每个点明确属于一个簇）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行业应用广泛，便于业务沟通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为什么不用其他方法？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DBSCAN：影院密度差异大，难选参数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层次聚类：238家影院计算量偏大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高斯混合：数据不一定符合正态分布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251460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目标函数（惯性值 Inertia）：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 = Σ min ||xᵢ - μₖ||²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xᵢ = 第 i 个样本点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μₖ = 第 k 个簇的中心（均值）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||·|| = 欧氏距离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Inertia 越小 → 簇内越紧凑 → 聚类效果越好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K 越大 Inertia 越小，需要权衡。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 算法执行步骤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一步步看算法是怎么工作的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54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随机选 K 个点作为初始聚类中心。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初始点的选择会影响最终结果，所以通常会随机初始化多次，取最好的那次。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56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1188720"/>
            <a:ext cx="1554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325880"/>
            <a:ext cx="457200" cy="45720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5740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计算距离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194560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对每个样本，计算它到 K 个中心的欧氏距离。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= √[(x₁-μ₁)² + (x₂-μ₂)² + ...]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6616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56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1188720"/>
            <a:ext cx="1554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325880"/>
            <a:ext cx="457200" cy="45720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9476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194560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每个样本归入距离最近的那个簇。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就像把学生分到最近的老师那里。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56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1188720"/>
            <a:ext cx="1554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325880"/>
            <a:ext cx="457200" cy="45720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更新中心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194560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每个簇的所有样本取均值，作为新的聚类中心。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新中心 = 簇内所有点的平均位置。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40880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5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23760" y="1188720"/>
            <a:ext cx="1554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0" y="1325880"/>
            <a:ext cx="457200" cy="457200"/>
          </a:xfrm>
          <a:prstGeom prst="ellipse">
            <a:avLst/>
          </a:prstGeom>
          <a:solidFill>
            <a:srgbClr val="8BAF5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迭代收敛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2194560"/>
            <a:ext cx="137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重复步骤 2-4，直到中心不再变化（或变化很小）。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这时算法「收敛」了，得到最终结果。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关键问题：K 取多少？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肘部法（Elbow Method）原理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 的痛点：需要预先指定 K（聚类数）。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太小 → 簇内差异大，分得不够细；K 太大 → 簇内太相似，分得太碎（极端情况：K=样本数时每个点自成一类）。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肘部法：让 K 从 2 变到 10，画出 Inertia 曲线。曲线从「陡」变「缓」的拐点就像人的手肘，那个位置就是最优 K。</a:t>
            </a:r>
            <a:endParaRPr lang="en-US" sz="1150" dirty="0"/>
          </a:p>
        </p:txBody>
      </p:sp>
      <p:pic>
        <p:nvPicPr>
          <p:cNvPr id="7" name="Image 0" descr="D:\pycharm\Person-Practice\电影票分析\images\03_elb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14600"/>
            <a:ext cx="502920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2514600"/>
            <a:ext cx="32004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我们的分析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2971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K=2 → 3：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Inertia 从 1047 降到 815，下降 22%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K=3 → 4：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815 降到 645，下降 21%，仍有明显改善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K=4 → 5：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645 降到 541，下降 16%，改善趋缓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结论：K=4 是拐点，且业务含义清晰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聚类结果：4 类影院画像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每个类别有什么特征？为什么会分成这样？</a:t>
            </a:r>
            <a:endParaRPr lang="en-US" sz="1200" dirty="0"/>
          </a:p>
        </p:txBody>
      </p:sp>
      <p:pic>
        <p:nvPicPr>
          <p:cNvPr id="5" name="Image 0" descr="D:\pycharm\Person-Practice\电影票分析\images\04_cluster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38912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09728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097280"/>
            <a:ext cx="73152" cy="80467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5074920" y="1143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顶级影院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13441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5家 (2.1%)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74920" y="1536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F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票房60亿 | 上座率38% | 票价11.9万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074920" y="16916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少数巨头影院，票房和上座率都远超平均。场次多、覆盖电影广，是首映的首选。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46320" y="201168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011680"/>
            <a:ext cx="73152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2057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热门影院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22585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43家 (18%)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74920" y="24505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F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票房9.8亿 | 上座率28% | 票价9.5万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74920" y="2606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中坚力量，各项指标中上。运营效率好，适合作为备选或点映场。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846320" y="292608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2926080"/>
            <a:ext cx="73152" cy="80467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0" name="Text 17"/>
          <p:cNvSpPr/>
          <p:nvPr/>
        </p:nvSpPr>
        <p:spPr>
          <a:xfrm>
            <a:off x="5074920" y="2971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中等影院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3172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40家 (17%)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74920" y="33649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F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票房2.2亿 | 上座率6.6% | 票价6.9万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074920" y="3520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上座率偏低，场次少。可能是选址或经营策略问题，有提升空间。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846320" y="384048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3840480"/>
            <a:ext cx="73152" cy="804672"/>
          </a:xfrm>
          <a:prstGeom prst="rect">
            <a:avLst/>
          </a:prstGeom>
          <a:solidFill>
            <a:srgbClr val="7A8B7C"/>
          </a:solidFill>
          <a:ln/>
        </p:spPr>
      </p:sp>
      <p:sp>
        <p:nvSpPr>
          <p:cNvPr id="26" name="Text 23"/>
          <p:cNvSpPr/>
          <p:nvPr/>
        </p:nvSpPr>
        <p:spPr>
          <a:xfrm>
            <a:off x="5074920" y="3886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普通影院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74920" y="4087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150家 (63%)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74920" y="42793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F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票房0.9亿 | 上座率13% | 票价6.0万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74920" y="4434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数量最多但单体贡献小。覆盖广泛的基础观众群体。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各簇特征对比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用图表直观对比 4 类影院的差异</a:t>
            </a:r>
            <a:endParaRPr lang="en-US" sz="1200" dirty="0"/>
          </a:p>
        </p:txBody>
      </p:sp>
      <p:pic>
        <p:nvPicPr>
          <p:cNvPr id="5" name="Image 0" descr="D:\pycharm\Person-Practice\电影票分析\images\05_cluster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顶级影院在所有维度都遥遥领先，说明「强者恒强」——高票房的影院往往上座率也高、票价也高。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阶段四：综合评分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如何从聚类结果中选出最佳影院？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聚类只告诉我们「影院属于哪一类」，但同一类里哪家更好？需要一个评分模型。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评分公式：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F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MinMax(票房) × 0.3 + MinMax(上座率) × 0.3 + MinMax(场次) × 0.2 + MinMax(电影数) × 0.2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93192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为什么用这个权重？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票房 30%：首映要「卖得多」，票房是硬指标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上座率 30%：首映要「坐得满」，人气是关键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场次 20%：排片密度反映影院的排片能力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电影数 20%：内容丰富度反映影院的综合实力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931920" cy="13716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 MinMax 而不是原始值？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 归一化：x' = (x - min) / (max - min)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处理后所有值在 [0, 1] 范围内。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这样不同量纲的指标可以直接加权求和，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不会因为某个指标数值大就主导总分。</a:t>
            </a:r>
            <a:endParaRPr lang="en-US" sz="1050" dirty="0"/>
          </a:p>
        </p:txBody>
      </p:sp>
      <p:pic>
        <p:nvPicPr>
          <p:cNvPr id="13" name="Image 0" descr="D:\pycharm\Person-Practice\电影票分析\images\06_top10_recomm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749040"/>
            <a:ext cx="5029200" cy="17373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0" y="3749040"/>
            <a:ext cx="3291840" cy="1737360"/>
          </a:xfrm>
          <a:prstGeom prst="rect">
            <a:avLst/>
          </a:prstGeom>
          <a:solidFill>
            <a:srgbClr val="8BAF5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2356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推荐：影院 #448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0.847 | 票房 120.61亿 | 上座率 38.5%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遥遥领先，是首映的最佳选择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阶段五：数据可视化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用图表让数据「说话」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直方图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看数据分布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大部分影院票房在什么范围？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73152" cy="118872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散点图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看变量关系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上座率和票价有关系吗？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73152" cy="118872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肘部图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选参数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取多少最合适？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60320"/>
            <a:ext cx="73152" cy="118872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看聚类效果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类影院分得开吗？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56032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560320"/>
            <a:ext cx="73152" cy="118872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对比差异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各类影院差距有多大？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56032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560320"/>
            <a:ext cx="73152" cy="118872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条形图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排名展示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TOP10 推荐是谁？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本次分析共生成 6 张图表，覆盖从数据探索到结果展示的全流程。每张图都有明确的目的，不是为了「好看」而是为了「看懂」。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BAF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B8F3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6B8F3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457200"/>
            <a:ext cx="731520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640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技术总结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88720" y="1280160"/>
            <a:ext cx="2011680" cy="36576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182880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数据清洗：移除逻辑异常值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88720" y="233172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特征聚合：从场次→影院维度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88720" y="283464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3" name="Text 11"/>
          <p:cNvSpPr/>
          <p:nvPr/>
        </p:nvSpPr>
        <p:spPr>
          <a:xfrm>
            <a:off x="1389888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标准化：消除量纲影响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88720" y="333756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5" name="Text 13"/>
          <p:cNvSpPr/>
          <p:nvPr/>
        </p:nvSpPr>
        <p:spPr>
          <a:xfrm>
            <a:off x="1389888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归一化：统一评分尺度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1280160"/>
            <a:ext cx="2011680" cy="36576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182880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19" name="Text 17"/>
          <p:cNvSpPr/>
          <p:nvPr/>
        </p:nvSpPr>
        <p:spPr>
          <a:xfrm>
            <a:off x="3675888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K-means：基于距离的聚类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0" y="233172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1" name="Text 19"/>
          <p:cNvSpPr/>
          <p:nvPr/>
        </p:nvSpPr>
        <p:spPr>
          <a:xfrm>
            <a:off x="3675888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肘部法：数据驱动选 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283464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3" name="Text 21"/>
          <p:cNvSpPr/>
          <p:nvPr/>
        </p:nvSpPr>
        <p:spPr>
          <a:xfrm>
            <a:off x="3675888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PCA：高维→低维可视化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333756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5" name="Text 23"/>
          <p:cNvSpPr/>
          <p:nvPr/>
        </p:nvSpPr>
        <p:spPr>
          <a:xfrm>
            <a:off x="3675888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聚类中心：理解各群特征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1280160"/>
            <a:ext cx="2011680" cy="365760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业务洞察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60720" y="182880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29" name="Text 27"/>
          <p:cNvSpPr/>
          <p:nvPr/>
        </p:nvSpPr>
        <p:spPr>
          <a:xfrm>
            <a:off x="5961888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影院分层：4类差异化画像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60720" y="233172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1" name="Text 29"/>
          <p:cNvSpPr/>
          <p:nvPr/>
        </p:nvSpPr>
        <p:spPr>
          <a:xfrm>
            <a:off x="5961888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评分模型：多维度加权决策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60720" y="283464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3" name="Text 31"/>
          <p:cNvSpPr/>
          <p:nvPr/>
        </p:nvSpPr>
        <p:spPr>
          <a:xfrm>
            <a:off x="5961888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推荐结果：数据驱动选址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0" y="3337560"/>
            <a:ext cx="109728" cy="109728"/>
          </a:xfrm>
          <a:prstGeom prst="rect">
            <a:avLst/>
          </a:prstGeom>
          <a:solidFill>
            <a:srgbClr val="8BAF56"/>
          </a:solidFill>
          <a:ln/>
        </p:spPr>
      </p:sp>
      <p:sp>
        <p:nvSpPr>
          <p:cNvPr id="35" name="Text 33"/>
          <p:cNvSpPr/>
          <p:nvPr/>
        </p:nvSpPr>
        <p:spPr>
          <a:xfrm>
            <a:off x="5961888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可复用：其他场景同样适用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88720" y="4206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大数据分析结课作业  ·  不如吃茶去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电影首映影院选择 — 数据分析全流程详解</dc:title>
  <dc:subject>PptxGenJS Presentation</dc:subject>
  <dc:creator>不如吃茶去</dc:creator>
  <cp:lastModifiedBy>不如吃茶去</cp:lastModifiedBy>
  <cp:revision>1</cp:revision>
  <dcterms:created xsi:type="dcterms:W3CDTF">2026-06-22T13:59:17Z</dcterms:created>
  <dcterms:modified xsi:type="dcterms:W3CDTF">2026-06-22T13:59:17Z</dcterms:modified>
</cp:coreProperties>
</file>